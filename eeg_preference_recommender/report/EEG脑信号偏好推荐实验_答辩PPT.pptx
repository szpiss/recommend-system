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B6F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7223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2A3D"/>
                </a:solidFill>
                <a:latin typeface="Arial" panose="020B0604020202090204"/>
              </a:defRPr>
            </a:pPr>
            <a:r>
              <a:t>基于脑信号推断用户偏好的深度学习推荐实验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938528"/>
            <a:ext cx="6766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B6FB0"/>
                </a:solidFill>
                <a:latin typeface="Arial" panose="020B0604020202090204"/>
              </a:defRPr>
            </a:pPr>
            <a:r>
              <a:t>EEG 隐式反馈  |  偏好预测  |  Top-N 推荐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5669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目标：用 EEG 脑电信号预测用户是否喜欢内容</a:t>
            </a:r>
          </a:p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方法：CNN 提取脑信号特征，输出偏好概率和评分</a:t>
            </a:r>
          </a:p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结果：将偏好概率融合物品流行度，生成推荐列表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80060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91032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527608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用户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480060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491032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527608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物品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480060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491032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2000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27608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样本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C78"/>
                </a:solidFill>
                <a:latin typeface="Arial" panose="020B0604020202090204"/>
              </a:defRPr>
            </a:pPr>
            <a:r>
              <a:t>基于脑信号推断用户偏好的深度学习推荐实验  |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680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A3D"/>
                </a:solidFill>
                <a:latin typeface="Arial" panose="020B0604020202090204"/>
              </a:defRPr>
            </a:pPr>
            <a:r>
              <a:t>系统功能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406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06C78"/>
                </a:solidFill>
                <a:latin typeface="Arial" panose="020B0604020202090204"/>
              </a:defRPr>
            </a:pPr>
            <a:r>
              <a:t>从 EEG 数据到推荐结果的一体化实验流程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36576"/>
          </a:xfrm>
          <a:prstGeom prst="rect">
            <a:avLst/>
          </a:prstGeom>
          <a:solidFill>
            <a:srgbClr val="2B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68096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A3D"/>
                </a:solidFill>
                <a:latin typeface="Arial" panose="020B0604020202090204"/>
              </a:defRPr>
            </a:pPr>
            <a:r>
              <a:t>数据模块：自动生成可复现实验 EEG 样本，包含 valence、arousal、rating 和 preference_label</a:t>
            </a:r>
          </a:p>
          <a:p>
            <a:pPr>
              <a:spcAft>
                <a:spcPts val="800"/>
              </a:spcAft>
              <a:defRPr sz="1400">
                <a:solidFill>
                  <a:srgbClr val="1C2A3D"/>
                </a:solidFill>
                <a:latin typeface="Arial" panose="020B0604020202090204"/>
              </a:defRPr>
            </a:pPr>
            <a:r>
              <a:t>预处理模块：标准化、轻量滤波，并提取 delta、theta、alpha、beta、gamma 频段特征</a:t>
            </a:r>
          </a:p>
          <a:p>
            <a:pPr>
              <a:spcAft>
                <a:spcPts val="800"/>
              </a:spcAft>
              <a:defRPr sz="1400">
                <a:solidFill>
                  <a:srgbClr val="1C2A3D"/>
                </a:solidFill>
                <a:latin typeface="Arial" panose="020B0604020202090204"/>
              </a:defRPr>
            </a:pPr>
            <a:r>
              <a:t>模型模块：EEGPreferenceNet 输出喜欢概率、预测评分和兴趣 embedding</a:t>
            </a:r>
          </a:p>
          <a:p>
            <a:pPr>
              <a:spcAft>
                <a:spcPts val="800"/>
              </a:spcAft>
              <a:defRPr sz="1400">
                <a:solidFill>
                  <a:srgbClr val="1C2A3D"/>
                </a:solidFill>
                <a:latin typeface="Arial" panose="020B0604020202090204"/>
              </a:defRPr>
            </a:pPr>
            <a:r>
              <a:t>推荐模块：按 score = 0.7 × EEG 偏好分数 + 0.3 × 物品流行度进行 Top-N 排序</a:t>
            </a:r>
          </a:p>
          <a:p>
            <a:pPr>
              <a:spcAft>
                <a:spcPts val="800"/>
              </a:spcAft>
              <a:defRPr sz="1400">
                <a:solidFill>
                  <a:srgbClr val="1C2A3D"/>
                </a:solidFill>
                <a:latin typeface="Arial" panose="020B0604020202090204"/>
              </a:defRPr>
            </a:pPr>
            <a:r>
              <a:t>结果模块：自动生成指标 CSV、推荐 CSV、图表和实验报告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5102352"/>
            <a:ext cx="1298448" cy="502920"/>
          </a:xfrm>
          <a:prstGeom prst="rect">
            <a:avLst/>
          </a:prstGeom>
          <a:solidFill>
            <a:srgbClr val="2B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90204"/>
              </a:defRPr>
            </a:pPr>
            <a:r>
              <a:t>造数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5230368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6C78"/>
                </a:solidFill>
                <a:latin typeface="Arial" panose="020B0604020202090204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5102352"/>
            <a:ext cx="1298448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90204"/>
              </a:defRPr>
            </a:pPr>
            <a:r>
              <a:t>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5230368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6C78"/>
                </a:solidFill>
                <a:latin typeface="Arial" panose="020B0604020202090204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5102352"/>
            <a:ext cx="1298448" cy="502920"/>
          </a:xfrm>
          <a:prstGeom prst="rect">
            <a:avLst/>
          </a:prstGeom>
          <a:solidFill>
            <a:srgbClr val="2B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90204"/>
              </a:defRPr>
            </a:pPr>
            <a:r>
              <a:t>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1536" y="5230368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6C78"/>
                </a:solidFill>
                <a:latin typeface="Arial" panose="020B0604020202090204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8" y="5102352"/>
            <a:ext cx="1298448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90204"/>
              </a:defRPr>
            </a:pPr>
            <a:r>
              <a:t>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5230368"/>
            <a:ext cx="2560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6C78"/>
                </a:solidFill>
                <a:latin typeface="Arial" panose="020B0604020202090204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61504" y="5102352"/>
            <a:ext cx="1298448" cy="502920"/>
          </a:xfrm>
          <a:prstGeom prst="rect">
            <a:avLst/>
          </a:prstGeom>
          <a:solidFill>
            <a:srgbClr val="2B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90204"/>
              </a:defRPr>
            </a:pPr>
            <a:r>
              <a:t>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C78"/>
                </a:solidFill>
                <a:latin typeface="Arial" panose="020B0604020202090204"/>
              </a:defRPr>
            </a:pPr>
            <a:r>
              <a:t>基于脑信号推断用户偏好的深度学习推荐实验  |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680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A3D"/>
                </a:solidFill>
                <a:latin typeface="Arial" panose="020B0604020202090204"/>
              </a:defRPr>
            </a:pPr>
            <a:r>
              <a:t>实现技术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406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06C78"/>
                </a:solidFill>
                <a:latin typeface="Arial" panose="020B0604020202090204"/>
              </a:defRPr>
            </a:pPr>
            <a:r>
              <a:t>PyTorch 深度学习模型 + 频段特征 + 推荐排序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36576"/>
          </a:xfrm>
          <a:prstGeom prst="rect">
            <a:avLst/>
          </a:prstGeom>
          <a:solidFill>
            <a:srgbClr val="2B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39319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1C2A3D"/>
                </a:solidFill>
                <a:latin typeface="Arial" panose="020B0604020202090204"/>
              </a:defRPr>
            </a:pPr>
            <a:r>
              <a:t>数据：模拟 DEAP 风格 EEG 情绪/偏好样本，高 valence 近似代表更强偏好</a:t>
            </a:r>
          </a:p>
          <a:p>
            <a:pPr>
              <a:spcAft>
                <a:spcPts val="800"/>
              </a:spcAft>
              <a:defRPr sz="1320">
                <a:solidFill>
                  <a:srgbClr val="1C2A3D"/>
                </a:solidFill>
                <a:latin typeface="Arial" panose="020B0604020202090204"/>
              </a:defRPr>
            </a:pPr>
            <a:r>
              <a:t>特征：FFT 近似 PSD，统计五类脑电频段平均功率</a:t>
            </a:r>
          </a:p>
          <a:p>
            <a:pPr>
              <a:spcAft>
                <a:spcPts val="800"/>
              </a:spcAft>
              <a:defRPr sz="1320">
                <a:solidFill>
                  <a:srgbClr val="1C2A3D"/>
                </a:solidFill>
                <a:latin typeface="Arial" panose="020B0604020202090204"/>
              </a:defRPr>
            </a:pPr>
            <a:r>
              <a:t>模型：1D CNN + BatchNorm + ReLU + Pooling + MLP</a:t>
            </a:r>
          </a:p>
          <a:p>
            <a:pPr>
              <a:spcAft>
                <a:spcPts val="800"/>
              </a:spcAft>
              <a:defRPr sz="1320">
                <a:solidFill>
                  <a:srgbClr val="1C2A3D"/>
                </a:solidFill>
                <a:latin typeface="Arial" panose="020B0604020202090204"/>
              </a:defRPr>
            </a:pPr>
            <a:r>
              <a:t>输出：preference_prob、predicted_rating、embedding</a:t>
            </a:r>
          </a:p>
          <a:p>
            <a:pPr>
              <a:spcAft>
                <a:spcPts val="800"/>
              </a:spcAft>
              <a:defRPr sz="1320">
                <a:solidFill>
                  <a:srgbClr val="1C2A3D"/>
                </a:solidFill>
                <a:latin typeface="Arial" panose="020B0604020202090204"/>
              </a:defRPr>
            </a:pPr>
            <a:r>
              <a:t>评估：Accuracy、Precision、Recall、F1、AUC、HitRate@10、NDCG@10、Precision@10</a:t>
            </a:r>
          </a:p>
        </p:txBody>
      </p:sp>
      <p:pic>
        <p:nvPicPr>
          <p:cNvPr id="6" name="Picture 5" descr="eeg_band_featur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313" y="3500120"/>
            <a:ext cx="3520440" cy="2112264"/>
          </a:xfrm>
          <a:prstGeom prst="rect">
            <a:avLst/>
          </a:prstGeom>
        </p:spPr>
      </p:pic>
      <p:pic>
        <p:nvPicPr>
          <p:cNvPr id="7" name="Picture 6" descr="training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93" y="3632073"/>
            <a:ext cx="3520440" cy="1980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C78"/>
                </a:solidFill>
                <a:latin typeface="Arial" panose="020B0604020202090204"/>
              </a:defRPr>
            </a:pPr>
            <a:r>
              <a:t>基于脑信号推断用户偏好的深度学习推荐实验  |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680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A3D"/>
                </a:solidFill>
                <a:latin typeface="Arial" panose="020B0604020202090204"/>
              </a:defRPr>
            </a:pPr>
            <a:r>
              <a:t>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406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06C78"/>
                </a:solidFill>
                <a:latin typeface="Arial" panose="020B0604020202090204"/>
              </a:defRPr>
            </a:pPr>
            <a:r>
              <a:t>分类效果较稳定，推荐结果能够命中用户偏好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36576"/>
          </a:xfrm>
          <a:prstGeom prst="rect">
            <a:avLst/>
          </a:prstGeom>
          <a:solidFill>
            <a:srgbClr val="2B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35607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0.820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013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132588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435607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0.862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18013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8768" y="132588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1435607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0.919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18013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32588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435607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8013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HitRate@10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77456" y="1325880"/>
            <a:ext cx="1508760" cy="841248"/>
          </a:xfrm>
          <a:prstGeom prst="rect">
            <a:avLst/>
          </a:prstGeom>
          <a:solidFill>
            <a:srgbClr val="F5F7FA"/>
          </a:solidFill>
          <a:ln>
            <a:solidFill>
              <a:srgbClr val="E0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1435607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FB0"/>
                </a:solidFill>
                <a:latin typeface="Arial" panose="020B0604020202090204"/>
              </a:defRPr>
            </a:pPr>
            <a:r>
              <a:t>0.935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87184" y="18013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1C2A3D"/>
                </a:solidFill>
                <a:latin typeface="Arial" panose="020B0604020202090204"/>
              </a:defRPr>
            </a:pPr>
            <a:r>
              <a:t>NDCG@10</a:t>
            </a:r>
          </a:p>
        </p:txBody>
      </p:sp>
      <p:pic>
        <p:nvPicPr>
          <p:cNvPr id="20" name="Picture 19" descr="roc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14600"/>
            <a:ext cx="3611880" cy="2708910"/>
          </a:xfrm>
          <a:prstGeom prst="rect">
            <a:avLst/>
          </a:prstGeom>
        </p:spPr>
      </p:pic>
      <p:pic>
        <p:nvPicPr>
          <p:cNvPr id="21" name="Picture 20" descr="topn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2514600"/>
            <a:ext cx="3794760" cy="20238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C78"/>
                </a:solidFill>
                <a:latin typeface="Arial" panose="020B0604020202090204"/>
              </a:defRPr>
            </a:pPr>
            <a:r>
              <a:t>基于脑信号推断用户偏好的深度学习推荐实验  |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680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2A3D"/>
                </a:solidFill>
                <a:latin typeface="Arial" panose="020B0604020202090204"/>
              </a:defRPr>
            </a:pPr>
            <a:r>
              <a:t>总结与答辩要点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406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06C78"/>
                </a:solidFill>
                <a:latin typeface="Arial" panose="020B0604020202090204"/>
              </a:defRPr>
            </a:pPr>
            <a:r>
              <a:t>本实验完成了脑信号感知推荐的可运行闭环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960120" cy="36576"/>
          </a:xfrm>
          <a:prstGeom prst="rect">
            <a:avLst/>
          </a:prstGeom>
          <a:solidFill>
            <a:srgbClr val="2B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7498079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完成点：从 EEG 样本生成、信号处理、模型训练到 Top-N 推荐全部跑通</a:t>
            </a:r>
          </a:p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创新点：把脑电信号作为用户隐式反馈，比点击和评分更接近即时认知状态</a:t>
            </a:r>
          </a:p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可展示：main.py 一键运行，outputs 中保存指标、图表、推荐结果和模型文件</a:t>
            </a:r>
          </a:p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局限性：当前为模拟数据，真实应用需要接入 DEAP/SEED 等真实 EEG 数据集</a:t>
            </a:r>
          </a:p>
          <a:p>
            <a:pPr>
              <a:spcAft>
                <a:spcPts val="800"/>
              </a:spcAft>
              <a:defRPr sz="1500">
                <a:solidFill>
                  <a:srgbClr val="1C2A3D"/>
                </a:solidFill>
                <a:latin typeface="Arial" panose="020B0604020202090204"/>
              </a:defRPr>
            </a:pPr>
            <a:r>
              <a:t>改进方向：尝试 CNN-LSTM、Transformer，并融合长期行为序列提升推荐效果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74980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B6FB0"/>
                </a:solidFill>
                <a:latin typeface="Arial" panose="020B0604020202090204"/>
              </a:defRPr>
            </a:pPr>
            <a:r>
              <a:t>答辩时一句话概括：本项目用深度学习从 EEG 脑信号中预测用户喜欢概率，再把它转成推荐排序分数。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49807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06C78"/>
                </a:solidFill>
                <a:latin typeface="Arial" panose="020B0604020202090204"/>
              </a:defRPr>
            </a:pPr>
            <a:r>
              <a:t>基于脑信号推断用户偏好的深度学习推荐实验  |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1179</Words>
  <Application>WPS 文字</Application>
  <PresentationFormat>On-screen Show (4:3)</PresentationFormat>
  <Paragraphs>104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崔子霖</cp:lastModifiedBy>
  <cp:revision>2</cp:revision>
  <dcterms:created xsi:type="dcterms:W3CDTF">2026-05-25T09:16:42Z</dcterms:created>
  <dcterms:modified xsi:type="dcterms:W3CDTF">2026-05-25T09:16:42Z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27A57AB4C956AC527A13146A3675356E_42</vt:lpwstr>
  </property>
  <property fmtid="{D5CDD505-2E9C-101B-9397-08002B2CF9AE}" pid="3" name="KSOProductBuildVer">
    <vt:lpwstr>2052-12.1.25205.25205</vt:lpwstr>
  </property>
</Properties>
</file>